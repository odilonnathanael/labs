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34" Type="http://schemas.openxmlformats.org/officeDocument/2006/relationships/image" Target="../media/image33.png" /><Relationship Id="rId33" Type="http://schemas.openxmlformats.org/officeDocument/2006/relationships/image" Target="../media/image32.png" /><Relationship Id="rId32" Type="http://schemas.openxmlformats.org/officeDocument/2006/relationships/image" Target="../media/image31.png" /><Relationship Id="rId31" Type="http://schemas.openxmlformats.org/officeDocument/2006/relationships/image" Target="../media/image30.png" /><Relationship Id="rId30" Type="http://schemas.openxmlformats.org/officeDocument/2006/relationships/image" Target="../media/image29.png" /><Relationship Id="rId29" Type="http://schemas.openxmlformats.org/officeDocument/2006/relationships/image" Target="../media/image28.png" /><Relationship Id="rId28" Type="http://schemas.openxmlformats.org/officeDocument/2006/relationships/image" Target="../media/image27.png" /><Relationship Id="rId27" Type="http://schemas.openxmlformats.org/officeDocument/2006/relationships/image" Target="../media/image26.png" /><Relationship Id="rId26" Type="http://schemas.openxmlformats.org/officeDocument/2006/relationships/image" Target="../media/image25.png" /><Relationship Id="rId25" Type="http://schemas.openxmlformats.org/officeDocument/2006/relationships/image" Target="../media/image24.png" /><Relationship Id="rId24" Type="http://schemas.openxmlformats.org/officeDocument/2006/relationships/image" Target="../media/image23.png" /><Relationship Id="rId23" Type="http://schemas.openxmlformats.org/officeDocument/2006/relationships/image" Target="../media/image22.png" /><Relationship Id="rId22" Type="http://schemas.openxmlformats.org/officeDocument/2006/relationships/image" Target="../media/image21.png" /><Relationship Id="rId21" Type="http://schemas.openxmlformats.org/officeDocument/2006/relationships/image" Target="../media/image20.png" /><Relationship Id="rId20" Type="http://schemas.openxmlformats.org/officeDocument/2006/relationships/image" Target="../media/image19.png" /><Relationship Id="rId19" Type="http://schemas.openxmlformats.org/officeDocument/2006/relationships/image" Target="../media/image18.png" /><Relationship Id="rId18" Type="http://schemas.openxmlformats.org/officeDocument/2006/relationships/image" Target="../media/image17.png" /><Relationship Id="rId17" Type="http://schemas.openxmlformats.org/officeDocument/2006/relationships/image" Target="../media/image16.png" /><Relationship Id="rId16" Type="http://schemas.openxmlformats.org/officeDocument/2006/relationships/image" Target="../media/image15.png" /><Relationship Id="rId15" Type="http://schemas.openxmlformats.org/officeDocument/2006/relationships/image" Target="../media/image14.png" /><Relationship Id="rId14" Type="http://schemas.openxmlformats.org/officeDocument/2006/relationships/image" Target="../media/image13.png" /><Relationship Id="rId13" Type="http://schemas.openxmlformats.org/officeDocument/2006/relationships/image" Target="../media/image12.png" /><Relationship Id="rId12" Type="http://schemas.openxmlformats.org/officeDocument/2006/relationships/image" Target="../media/image11.png" /><Relationship Id="rId11" Type="http://schemas.openxmlformats.org/officeDocument/2006/relationships/image" Target="../media/image10.png" /><Relationship Id="rId10" Type="http://schemas.openxmlformats.org/officeDocument/2006/relationships/image" Target="../media/image9.png" /><Relationship Id="rId9" Type="http://schemas.openxmlformats.org/officeDocument/2006/relationships/image" Target="../media/image8.png" /><Relationship Id="rId8" Type="http://schemas.openxmlformats.org/officeDocument/2006/relationships/image" Target="../media/image7.png" /><Relationship Id="rId7" Type="http://schemas.openxmlformats.org/officeDocument/2006/relationships/image" Target="../media/image6.png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Relationship Id="rId3" Type="http://schemas.openxmlformats.org/officeDocument/2006/relationships/image" Target="../media/image2.png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№9: Командная оболочка Midnight Commander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Ваше Имя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Освоение основных возможностей командной оболочки Midnight Commander (mc). Приобретение навыков практической работы по просмотру каталогов и файлов; манипуляций с ними.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Задание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Изучить информацию о mc с помощью </a:t>
            </a:r>
            <a:r>
              <a:rPr>
                <a:latin typeface="Courier"/>
              </a:rPr>
              <a:t>man mc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Запустить mc и изучить его структуру и меню.</a:t>
            </a:r>
          </a:p>
          <a:p>
            <a:pPr lvl="0" indent="-342900" marL="342900">
              <a:buAutoNum type="arabicPeriod"/>
            </a:pPr>
            <a:r>
              <a:rPr/>
              <a:t>Выполнить операции с файлами и панелями.</a:t>
            </a:r>
          </a:p>
          <a:p>
            <a:pPr lvl="0" indent="-342900" marL="342900">
              <a:buAutoNum type="arabicPeriod"/>
            </a:pPr>
            <a:r>
              <a:rPr/>
              <a:t>Использовать встроенный редактор mc для работы с текстом.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Выполнение лабораторной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3.1. Изучение информации о mc</a:t>
            </a:r>
          </a:p>
          <a:p>
            <a:pPr lvl="0" indent="0" marL="0">
              <a:buNone/>
            </a:pPr>
            <a:r>
              <a:rPr/>
              <a:t>Команда </a:t>
            </a:r>
            <a:r>
              <a:rPr>
                <a:latin typeface="Courier"/>
              </a:rPr>
              <a:t>man mc</a:t>
            </a:r>
            <a:r>
              <a:rPr/>
              <a:t> выводит справочную информацию о Midnight Commander:</a:t>
            </a:r>
          </a:p>
        </p:txBody>
      </p:sp>
      <p:pic>
        <p:nvPicPr>
          <p:cNvPr descr="images/man_mc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man mc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3.2. Запуск и общий вид Midnight Commander</a:t>
            </a:r>
          </a:p>
          <a:p>
            <a:pPr lvl="0" indent="0" marL="0">
              <a:buNone/>
            </a:pPr>
            <a:r>
              <a:rPr/>
              <a:t>Запуск mc осуществляется командой </a:t>
            </a:r>
            <a:r>
              <a:rPr>
                <a:latin typeface="Courier"/>
              </a:rPr>
              <a:t>mc</a:t>
            </a:r>
            <a:r>
              <a:rPr/>
              <a:t> в терминале:</a:t>
            </a:r>
          </a:p>
        </p:txBody>
      </p:sp>
      <p:pic>
        <p:nvPicPr>
          <p:cNvPr descr="images/mc_launch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Запуск mc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Основное окно mc содержит две панели, отображающие списки файлов:</a:t>
            </a:r>
          </a:p>
        </p:txBody>
      </p:sp>
      <p:pic>
        <p:nvPicPr>
          <p:cNvPr descr="images/mc_main.png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Главное окно mc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3.3. Управление панелями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3.3.1. Меню панелей</a:t>
            </a:r>
          </a:p>
          <a:p>
            <a:pPr lvl="0" indent="0" marL="0">
              <a:buNone/>
            </a:pPr>
            <a:r>
              <a:rPr/>
              <a:t>Меню “Left panel” (F9 → Left) и “Right panel” (F9 → Right) позволяют настраивать отображение панелей:</a:t>
            </a:r>
          </a:p>
        </p:txBody>
      </p:sp>
      <p:pic>
        <p:nvPicPr>
          <p:cNvPr descr="images/mc_left_panel_menu.png" id="0" name="Picture 1"/>
          <p:cNvPicPr>
            <a:picLocks noGrp="1"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Меню левой панели</a:t>
            </a:r>
          </a:p>
        </p:txBody>
      </p:sp>
      <p:pic>
        <p:nvPicPr>
          <p:cNvPr descr="images/mc_right_panel_menu.png" id="0" name="Picture 1"/>
          <p:cNvPicPr>
            <a:picLocks noGrp="1"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Меню правой панели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3.3.2. Режимы отображения панелей</a:t>
            </a:r>
          </a:p>
          <a:p>
            <a:pPr lvl="0" indent="0" marL="0">
              <a:buNone/>
            </a:pPr>
            <a:r>
              <a:rPr b="1"/>
              <a:t>Режим Info</a:t>
            </a:r>
            <a:r>
              <a:rPr/>
              <a:t> (Информация) — отображает сведения о файле и файловой системе:</a:t>
            </a:r>
          </a:p>
        </p:txBody>
      </p:sp>
      <p:pic>
        <p:nvPicPr>
          <p:cNvPr descr="images/mc_info_mode.png" id="0" name="Picture 1"/>
          <p:cNvPicPr>
            <a:picLocks noGrp="1"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Режим Info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Режим Tree</a:t>
            </a:r>
            <a:r>
              <a:rPr/>
              <a:t> (Дерево) — отображает структуру дерева каталогов:</a:t>
            </a:r>
          </a:p>
        </p:txBody>
      </p:sp>
      <p:pic>
        <p:nvPicPr>
          <p:cNvPr descr="images/mc_tree_mode.png" id="0" name="Picture 1"/>
          <p:cNvPicPr>
            <a:picLocks noGrp="1"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Режим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3.3.3. Операции с панелями</a:t>
            </a:r>
          </a:p>
          <a:p>
            <a:pPr lvl="0" indent="0" marL="0">
              <a:buNone/>
            </a:pPr>
            <a:r>
              <a:rPr b="1"/>
              <a:t>Перестановка панелей</a:t>
            </a:r>
            <a:r>
              <a:rPr/>
              <a:t> (</a:t>
            </a:r>
            <a:r>
              <a:rPr>
                <a:latin typeface="Courier"/>
              </a:rPr>
              <a:t>Ctrl+u</a:t>
            </a:r>
            <a:r>
              <a:rPr/>
              <a:t>) меняет местами левую и правую панели:</a:t>
            </a:r>
          </a:p>
        </p:txBody>
      </p:sp>
      <p:pic>
        <p:nvPicPr>
          <p:cNvPr descr="images/mc_swap_panels.png" id="0" name="Picture 1"/>
          <p:cNvPicPr>
            <a:picLocks noGrp="1" noChangeAspect="1"/>
          </p:cNvPicPr>
          <p:nvPr/>
        </p:nvPicPr>
        <p:blipFill>
          <a:blip r:embed="rId9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Перестановка панелей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Отключение панелей</a:t>
            </a:r>
            <a:r>
              <a:rPr/>
              <a:t> (</a:t>
            </a:r>
            <a:r>
              <a:rPr>
                <a:latin typeface="Courier"/>
              </a:rPr>
              <a:t>Ctrl+o</a:t>
            </a:r>
            <a:r>
              <a:rPr/>
              <a:t>) временно скрывает панели для просмотра вывода команд:</a:t>
            </a:r>
          </a:p>
        </p:txBody>
      </p:sp>
      <p:pic>
        <p:nvPicPr>
          <p:cNvPr descr="images/mc_disable_panels.png" id="0" name="Picture 1"/>
          <p:cNvPicPr>
            <a:picLocks noGrp="1" noChangeAspect="1"/>
          </p:cNvPicPr>
          <p:nvPr/>
        </p:nvPicPr>
        <p:blipFill>
          <a:blip r:embed="rId10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Отключение панелей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Сравнение каталогов</a:t>
            </a:r>
            <a:r>
              <a:rPr/>
              <a:t> (</a:t>
            </a:r>
            <a:r>
              <a:rPr>
                <a:latin typeface="Courier"/>
              </a:rPr>
              <a:t>Ctrl+x d</a:t>
            </a:r>
            <a:r>
              <a:rPr/>
              <a:t>) сравнивает содержимое двух панелей:</a:t>
            </a:r>
          </a:p>
        </p:txBody>
      </p:sp>
      <p:pic>
        <p:nvPicPr>
          <p:cNvPr descr="images/mc_compare_dirs.png" id="0" name="Picture 1"/>
          <p:cNvPicPr>
            <a:picLocks noGrp="1" noChangeAspect="1"/>
          </p:cNvPicPr>
          <p:nvPr/>
        </p:nvPicPr>
        <p:blipFill>
          <a:blip r:embed="rId11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Сравнение каталогов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3.4. Меню File (Файл)</a:t>
            </a:r>
          </a:p>
          <a:p>
            <a:pPr lvl="0" indent="0" marL="0">
              <a:buNone/>
            </a:pPr>
            <a:r>
              <a:rPr/>
              <a:t>Меню File содержит основные операции с файлами:</a:t>
            </a:r>
          </a:p>
        </p:txBody>
      </p:sp>
      <p:pic>
        <p:nvPicPr>
          <p:cNvPr descr="images/mc_file_menu.png" id="0" name="Picture 1"/>
          <p:cNvPicPr>
            <a:picLocks noGrp="1" noChangeAspect="1"/>
          </p:cNvPicPr>
          <p:nvPr/>
        </p:nvPicPr>
        <p:blipFill>
          <a:blip r:embed="rId1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Меню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3.4.1. Создание каталога (F7)</a:t>
            </a:r>
          </a:p>
        </p:txBody>
      </p:sp>
      <p:pic>
        <p:nvPicPr>
          <p:cNvPr descr="images/mc_mkdir.png" id="0" name="Picture 1"/>
          <p:cNvPicPr>
            <a:picLocks noGrp="1" noChangeAspect="1"/>
          </p:cNvPicPr>
          <p:nvPr/>
        </p:nvPicPr>
        <p:blipFill>
          <a:blip r:embed="rId13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Создание каталога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3.4.2. Копирование файла (F5)</a:t>
            </a:r>
          </a:p>
        </p:txBody>
      </p:sp>
      <p:pic>
        <p:nvPicPr>
          <p:cNvPr descr="images/mc_copy.png" id="0" name="Picture 1"/>
          <p:cNvPicPr>
            <a:picLocks noGrp="1" noChangeAspect="1"/>
          </p:cNvPicPr>
          <p:nvPr/>
        </p:nvPicPr>
        <p:blipFill>
          <a:blip r:embed="rId14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Копирование файла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3.4.3. Перемещение/переименование (F6)</a:t>
            </a:r>
          </a:p>
        </p:txBody>
      </p:sp>
      <p:pic>
        <p:nvPicPr>
          <p:cNvPr descr="images/mc_move.png" id="0" name="Picture 1"/>
          <p:cNvPicPr>
            <a:picLocks noGrp="1" noChangeAspect="1"/>
          </p:cNvPicPr>
          <p:nvPr/>
        </p:nvPicPr>
        <p:blipFill>
          <a:blip r:embed="rId15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Перемещение файла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3.4.4. Удаление файла (F8)</a:t>
            </a:r>
          </a:p>
        </p:txBody>
      </p:sp>
      <p:pic>
        <p:nvPicPr>
          <p:cNvPr descr="images/mc_delete.png" id="0" name="Picture 1"/>
          <p:cNvPicPr>
            <a:picLocks noGrp="1" noChangeAspect="1"/>
          </p:cNvPicPr>
          <p:nvPr/>
        </p:nvPicPr>
        <p:blipFill>
          <a:blip r:embed="rId16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Удаление файла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3.4.5. Просмотр информации о файле (Ctrl+x i)</a:t>
            </a:r>
          </a:p>
        </p:txBody>
      </p:sp>
      <p:pic>
        <p:nvPicPr>
          <p:cNvPr descr="images/mc_file_info.png" id="0" name="Picture 1"/>
          <p:cNvPicPr>
            <a:picLocks noGrp="1" noChangeAspect="1"/>
          </p:cNvPicPr>
          <p:nvPr/>
        </p:nvPicPr>
        <p:blipFill>
          <a:blip r:embed="rId17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Информация о файле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3.4.6. Изменение прав доступа (Ctrl+x c)</a:t>
            </a:r>
          </a:p>
        </p:txBody>
      </p:sp>
      <p:pic>
        <p:nvPicPr>
          <p:cNvPr descr="images/mc_chmod.png" id="0" name="Picture 1"/>
          <p:cNvPicPr>
            <a:picLocks noGrp="1" noChangeAspect="1"/>
          </p:cNvPicPr>
          <p:nvPr/>
        </p:nvPicPr>
        <p:blipFill>
          <a:blip r:embed="rId18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Изменение прав доступа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3.4.7. Создание символической ссылки (Ctrl+x s)</a:t>
            </a:r>
          </a:p>
        </p:txBody>
      </p:sp>
      <p:pic>
        <p:nvPicPr>
          <p:cNvPr descr="images/mc_symlink.png" id="0" name="Picture 1"/>
          <p:cNvPicPr>
            <a:picLocks noGrp="1" noChangeAspect="1"/>
          </p:cNvPicPr>
          <p:nvPr/>
        </p:nvPicPr>
        <p:blipFill>
          <a:blip r:embed="rId19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Создание символической ссылки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3.5. Меню Command (Команда)</a:t>
            </a:r>
          </a:p>
          <a:p>
            <a:pPr lvl="0" indent="0" marL="0">
              <a:buNone/>
            </a:pPr>
            <a:r>
              <a:rPr/>
              <a:t>Меню Command содержит общие команды для работы с mc:</a:t>
            </a:r>
          </a:p>
        </p:txBody>
      </p:sp>
      <p:pic>
        <p:nvPicPr>
          <p:cNvPr descr="images/mc_command_menu.png" id="0" name="Picture 1"/>
          <p:cNvPicPr>
            <a:picLocks noGrp="1" noChangeAspect="1"/>
          </p:cNvPicPr>
          <p:nvPr/>
        </p:nvPicPr>
        <p:blipFill>
          <a:blip r:embed="rId20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Меню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3.5.1. Поиск файла</a:t>
            </a:r>
          </a:p>
          <a:p>
            <a:pPr lvl="0" indent="0" marL="0">
              <a:buNone/>
            </a:pPr>
            <a:r>
              <a:rPr/>
              <a:t>Поиск файлов по заданным параметрам:</a:t>
            </a:r>
          </a:p>
        </p:txBody>
      </p:sp>
      <p:pic>
        <p:nvPicPr>
          <p:cNvPr descr="images/mc_find_file.png" id="0" name="Picture 1"/>
          <p:cNvPicPr>
            <a:picLocks noGrp="1" noChangeAspect="1"/>
          </p:cNvPicPr>
          <p:nvPr/>
        </p:nvPicPr>
        <p:blipFill>
          <a:blip r:embed="rId21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Поиск файла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3.5.2. История командной строки</a:t>
            </a:r>
          </a:p>
        </p:txBody>
      </p:sp>
      <p:pic>
        <p:nvPicPr>
          <p:cNvPr descr="images/mc_history.png" id="0" name="Picture 1"/>
          <p:cNvPicPr>
            <a:picLocks noGrp="1" noChangeAspect="1"/>
          </p:cNvPicPr>
          <p:nvPr/>
        </p:nvPicPr>
        <p:blipFill>
          <a:blip r:embed="rId2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История команд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3.6. Меню Options (Настройки)</a:t>
            </a:r>
          </a:p>
          <a:p>
            <a:pPr lvl="0" indent="0" marL="0">
              <a:buNone/>
            </a:pPr>
            <a:r>
              <a:rPr/>
              <a:t>Меню Options позволяет настраивать внешний вид и функциональность mc:</a:t>
            </a:r>
          </a:p>
        </p:txBody>
      </p:sp>
      <p:pic>
        <p:nvPicPr>
          <p:cNvPr descr="images/mc_options_menu.png" id="0" name="Picture 1"/>
          <p:cNvPicPr>
            <a:picLocks noGrp="1" noChangeAspect="1"/>
          </p:cNvPicPr>
          <p:nvPr/>
        </p:nvPicPr>
        <p:blipFill>
          <a:blip r:embed="rId23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Меню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Настройка внешнего вида (Appearance):</a:t>
            </a:r>
          </a:p>
        </p:txBody>
      </p:sp>
      <p:pic>
        <p:nvPicPr>
          <p:cNvPr descr="images/mc_appearance.png" id="0" name="Picture 1"/>
          <p:cNvPicPr>
            <a:picLocks noGrp="1" noChangeAspect="1"/>
          </p:cNvPicPr>
          <p:nvPr/>
        </p:nvPicPr>
        <p:blipFill>
          <a:blip r:embed="rId24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Настройка внешнего вида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3.7. Встроенный редактор mc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3.7.1. Создание и открытие файла</a:t>
            </a:r>
          </a:p>
          <a:p>
            <a:pPr lvl="0" indent="0" marL="0">
              <a:buNone/>
            </a:pPr>
            <a:r>
              <a:rPr/>
              <a:t>Создание файла </a:t>
            </a:r>
            <a:r>
              <a:rPr>
                <a:latin typeface="Courier"/>
              </a:rPr>
              <a:t>text.txt</a:t>
            </a:r>
            <a:r>
              <a:rPr/>
              <a:t> и открытие его в редакторе (F4):</a:t>
            </a:r>
          </a:p>
        </p:txBody>
      </p:sp>
      <p:pic>
        <p:nvPicPr>
          <p:cNvPr descr="images/mc_editor_create.png" id="0" name="Picture 1"/>
          <p:cNvPicPr>
            <a:picLocks noGrp="1" noChangeAspect="1"/>
          </p:cNvPicPr>
          <p:nvPr/>
        </p:nvPicPr>
        <p:blipFill>
          <a:blip r:embed="rId25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Создание файла</a:t>
            </a:r>
          </a:p>
        </p:txBody>
      </p:sp>
      <p:pic>
        <p:nvPicPr>
          <p:cNvPr descr="images/mc_editor_open.png" id="0" name="Picture 1"/>
          <p:cNvPicPr>
            <a:picLocks noGrp="1" noChangeAspect="1"/>
          </p:cNvPicPr>
          <p:nvPr/>
        </p:nvPicPr>
        <p:blipFill>
          <a:blip r:embed="rId26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Открытие в редакторе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3.7.2. Редактирование текста</a:t>
            </a:r>
          </a:p>
          <a:p>
            <a:pPr lvl="0" indent="0" marL="0">
              <a:buNone/>
            </a:pPr>
            <a:r>
              <a:rPr/>
              <a:t>Вставка текста в редактор:</a:t>
            </a:r>
          </a:p>
        </p:txBody>
      </p:sp>
      <p:pic>
        <p:nvPicPr>
          <p:cNvPr descr="images/mc_editor_insert.png" id="0" name="Picture 1"/>
          <p:cNvPicPr>
            <a:picLocks noGrp="1" noChangeAspect="1"/>
          </p:cNvPicPr>
          <p:nvPr/>
        </p:nvPicPr>
        <p:blipFill>
          <a:blip r:embed="rId27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Вставка текста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Удаление строки текста:</a:t>
            </a:r>
          </a:p>
        </p:txBody>
      </p:sp>
      <p:pic>
        <p:nvPicPr>
          <p:cNvPr descr="images/mc_editor_delete_line.png" id="0" name="Picture 1"/>
          <p:cNvPicPr>
            <a:picLocks noGrp="1" noChangeAspect="1"/>
          </p:cNvPicPr>
          <p:nvPr/>
        </p:nvPicPr>
        <p:blipFill>
          <a:blip r:embed="rId28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Удаление строки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Копирование и вставка фрагмента текста:</a:t>
            </a:r>
          </a:p>
        </p:txBody>
      </p:sp>
      <p:pic>
        <p:nvPicPr>
          <p:cNvPr descr="images/mc_editor_copy_paste.png" id="0" name="Picture 1"/>
          <p:cNvPicPr>
            <a:picLocks noGrp="1" noChangeAspect="1"/>
          </p:cNvPicPr>
          <p:nvPr/>
        </p:nvPicPr>
        <p:blipFill>
          <a:blip r:embed="rId29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Копирование/вставка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Отмена последнего действия (</a:t>
            </a:r>
            <a:r>
              <a:rPr>
                <a:latin typeface="Courier"/>
              </a:rPr>
              <a:t>Ctrl+u</a:t>
            </a:r>
            <a:r>
              <a:rPr/>
              <a:t>):</a:t>
            </a:r>
          </a:p>
        </p:txBody>
      </p:sp>
      <p:pic>
        <p:nvPicPr>
          <p:cNvPr descr="images/mc_editor_undo.png" id="0" name="Picture 1"/>
          <p:cNvPicPr>
            <a:picLocks noGrp="1" noChangeAspect="1"/>
          </p:cNvPicPr>
          <p:nvPr/>
        </p:nvPicPr>
        <p:blipFill>
          <a:blip r:embed="rId30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Отмена действия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Сохранение файла (F2):</a:t>
            </a:r>
          </a:p>
        </p:txBody>
      </p:sp>
      <p:pic>
        <p:nvPicPr>
          <p:cNvPr descr="images/mc_editor_save.png" id="0" name="Picture 1"/>
          <p:cNvPicPr>
            <a:picLocks noGrp="1" noChangeAspect="1"/>
          </p:cNvPicPr>
          <p:nvPr/>
        </p:nvPicPr>
        <p:blipFill>
          <a:blip r:embed="rId31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Сохранение файла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Навигация по файлу (перемещение в начало/конец):</a:t>
            </a:r>
          </a:p>
        </p:txBody>
      </p:sp>
      <p:pic>
        <p:nvPicPr>
          <p:cNvPr descr="images/mc_editor_navigation.png" id="0" name="Picture 1"/>
          <p:cNvPicPr>
            <a:picLocks noGrp="1" noChangeAspect="1"/>
          </p:cNvPicPr>
          <p:nvPr/>
        </p:nvPicPr>
        <p:blipFill>
          <a:blip r:embed="rId3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Навигация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3.7.3. Подсветка синтаксиса</a:t>
            </a:r>
          </a:p>
          <a:p>
            <a:pPr lvl="0" indent="0" marL="0">
              <a:buNone/>
            </a:pPr>
            <a:r>
              <a:rPr/>
              <a:t>Для файлов с исходным кодом можно включить подсветку синтаксиса:</a:t>
            </a:r>
          </a:p>
        </p:txBody>
      </p:sp>
      <p:pic>
        <p:nvPicPr>
          <p:cNvPr descr="images/mc_editor_syntax.png" id="0" name="Picture 1"/>
          <p:cNvPicPr>
            <a:picLocks noGrp="1" noChangeAspect="1"/>
          </p:cNvPicPr>
          <p:nvPr/>
        </p:nvPicPr>
        <p:blipFill>
          <a:blip r:embed="rId33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Подсветка синтаксиса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3.8. Завершение работы</a:t>
            </a:r>
          </a:p>
          <a:p>
            <a:pPr lvl="0" indent="0" marL="0">
              <a:buNone/>
            </a:pPr>
            <a:r>
              <a:rPr/>
              <a:t>Выход из mc осуществляется клавишей F10:</a:t>
            </a:r>
          </a:p>
        </p:txBody>
      </p:sp>
      <p:pic>
        <p:nvPicPr>
          <p:cNvPr descr="images/mc_quit.png" id="0" name="Picture 1"/>
          <p:cNvPicPr>
            <a:picLocks noGrp="1" noChangeAspect="1"/>
          </p:cNvPicPr>
          <p:nvPr/>
        </p:nvPicPr>
        <p:blipFill>
          <a:blip r:embed="rId34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Выход из mc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освоены основные возможности командной оболочки Midnight Commander. Приобретены навыки навигации по файловой системе, управления панелями, выполнения операций с файлами (копирование, перемещение, удаление, изменение прав доступа), работы с встроенным редактором. Midnight Commander является мощным инструментом для эффективной работы в командной строке Linux.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Ответы на контрольные вопросы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Какие режимы работы есть в mc? Охарактеризуйте их.</a:t>
            </a:r>
            <a:br/>
            <a:r>
              <a:rPr/>
              <a:t>mc имеет следующие режимы отображения панелей: Standard (стандартный список файлов), Info (информация о файле и системе), Tree (дерево каталогов), Quick View (быстрый просмотр файла).</a:t>
            </a:r>
          </a:p>
          <a:p>
            <a:pPr lvl="0" indent="0" marL="0">
              <a:buNone/>
            </a:pPr>
            <a:r>
              <a:rPr b="1"/>
              <a:t>2. Какие операции с файлами можно выполнить как с помощью команд shell, так и с помощью меню mc? Приведите примеры.</a:t>
            </a:r>
            <a:br/>
            <a:r>
              <a:rPr/>
              <a:t>Копирование (cp → F5), перемещение (mv → F6), удаление (rm → F8), изменение прав доступа (chmod → Ctrl+x c), создание ссылок (ln → Ctrl+x s).</a:t>
            </a:r>
          </a:p>
          <a:p>
            <a:pPr lvl="0" indent="0" marL="0">
              <a:buNone/>
            </a:pPr>
            <a:r>
              <a:rPr b="1"/>
              <a:t>3. Опишите структуру меню левой (или правой) панели mc, дайте характеристику командам.</a:t>
            </a:r>
            <a:br/>
            <a:r>
              <a:rPr/>
              <a:t>Меню панели содержит: List mode (режим списка), Info mode (режим информации), Tree mode (режим дерева), Quick View (быстрый просмотр), Filter (фильтр), Re-read (перечитать), Sort order (сортировка).</a:t>
            </a:r>
          </a:p>
          <a:p>
            <a:pPr lvl="0" indent="0" marL="0">
              <a:buNone/>
            </a:pPr>
            <a:r>
              <a:rPr b="1"/>
              <a:t>4. Опишите структуру меню File mc, дайте характеристику командам.</a:t>
            </a:r>
            <a:br/>
            <a:r>
              <a:rPr/>
              <a:t>Меню File включает: New file (новый файл), Copy (копирование), Move (перемещение), Delete (удаление), Rename (переименование), Link (ссылка), Edit (редактирование), View (просмотр), Chmod (права доступа), Chown (владелец).</a:t>
            </a:r>
          </a:p>
          <a:p>
            <a:pPr lvl="0" indent="0" marL="0">
              <a:buNone/>
            </a:pPr>
            <a:r>
              <a:rPr b="1"/>
              <a:t>5. Опишите структуру меню Command mc, дайте характеристику командам.</a:t>
            </a:r>
            <a:br/>
            <a:r>
              <a:rPr/>
              <a:t>Меню Command содержит: Find file (поиск файлов), Directory tree (дерево каталогов), Swap panels (переставить панели), Compare directories (сравнить каталоги), Command line history (история команд), Directory hotlist (каталоги быстрого доступа).</a:t>
            </a:r>
          </a:p>
          <a:p>
            <a:pPr lvl="0" indent="0" marL="0">
              <a:buNone/>
            </a:pPr>
            <a:r>
              <a:rPr b="1"/>
              <a:t>6. Опишите структуру меню Options mc, дайте характеристику командам.</a:t>
            </a:r>
            <a:br/>
            <a:r>
              <a:rPr/>
              <a:t>Меню Options включает: Configuration (конфигурация), Appearance (внешний вид), Panel options (настройки панелей), Confirmation (подтверждения), Learn keys (обучение клавишам), Virtual FS (виртуальная ФС).</a:t>
            </a:r>
          </a:p>
          <a:p>
            <a:pPr lvl="0" indent="0" marL="0">
              <a:buNone/>
            </a:pPr>
            <a:r>
              <a:rPr b="1"/>
              <a:t>7. Назовите и дайте характеристику встроенным командам mc.</a:t>
            </a:r>
            <a:br/>
            <a:r>
              <a:rPr/>
              <a:t>Встроенные команды: F1 (Help), F2 (User menu), F3 (View), F4 (Edit), F5 (Copy), F6 (Move/Rename), F7 (Mkdir), F8 (Delete), F9 (Menu), F10 (Quit), Ctrl+o (Shell output), Ctrl+u (Swap panels).</a:t>
            </a:r>
          </a:p>
          <a:p>
            <a:pPr lvl="0" indent="0" marL="0">
              <a:buNone/>
            </a:pPr>
            <a:r>
              <a:rPr b="1"/>
              <a:t>8. Назовите и дайте характеристику командам встроенного редактора mc.</a:t>
            </a:r>
            <a:br/>
            <a:r>
              <a:rPr/>
              <a:t>Встроенный редактор поддерживает: Ctrl+y (удалить строку), Ctrl+k (вырезать до конца строки), Ctrl+u (отменить), Ctrl+Insert (копировать), Shift+Insert (вставить), F2 (сохранить), F4 (сохранить и выйти).</a:t>
            </a:r>
          </a:p>
          <a:p>
            <a:pPr lvl="0" indent="0" marL="0">
              <a:buNone/>
            </a:pPr>
            <a:r>
              <a:rPr b="1"/>
              <a:t>9. Дайте характеристику средствам mc, которые позволяют создавать меню, определяемое пользователем.</a:t>
            </a:r>
            <a:br/>
            <a:r>
              <a:rPr/>
              <a:t>Файл </a:t>
            </a:r>
            <a:r>
              <a:rPr>
                <a:latin typeface="Courier"/>
              </a:rPr>
              <a:t>~/.config/mc/menu</a:t>
            </a:r>
            <a:r>
              <a:rPr/>
              <a:t> (или </a:t>
            </a:r>
            <a:r>
              <a:rPr>
                <a:latin typeface="Courier"/>
              </a:rPr>
              <a:t>~/.mc/menu</a:t>
            </a:r>
            <a:r>
              <a:rPr/>
              <a:t>) позволяет создавать пользовательские меню, вызываемые клавишей F2.</a:t>
            </a:r>
          </a:p>
          <a:p>
            <a:pPr lvl="0" indent="0" marL="0">
              <a:buNone/>
            </a:pPr>
            <a:r>
              <a:rPr b="1"/>
              <a:t>10. Дайте характеристику средствам mc, которые позволяют выполнять действия, определяемое пользователем, над текущим файлом.</a:t>
            </a:r>
            <a:br/>
            <a:r>
              <a:rPr/>
              <a:t>Расширения файлов задаются в файле </a:t>
            </a:r>
            <a:r>
              <a:rPr>
                <a:latin typeface="Courier"/>
              </a:rPr>
              <a:t>~/.config/mc/ext.d/</a:t>
            </a:r>
            <a:r>
              <a:rPr/>
              <a:t>. Можно определить, какая программа запускается для файлов с определённым расширением.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Страницы руководства </a:t>
            </a:r>
            <a:r>
              <a:rPr>
                <a:latin typeface="Courier"/>
              </a:rPr>
              <a:t>man mc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Документация Midnight Commander.</a:t>
            </a:r>
          </a:p>
          <a:p>
            <a:pPr lvl="0" indent="-342900" marL="342900">
              <a:buAutoNum type="arabicPeriod"/>
            </a:pPr>
            <a:r>
              <a:rPr/>
              <a:t>Курс «Архитектура компьютеров и операционные системы».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№9: Командная оболочка Midnight Commander</dc:title>
  <dc:creator>Ваше Имя</dc:creator>
  <cp:keywords/>
  <dcterms:created xsi:type="dcterms:W3CDTF">2026-04-11T13:58:56Z</dcterms:created>
  <dcterms:modified xsi:type="dcterms:W3CDTF">2026-04-11T13:58:56Z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/>
  </property>
</Properties>
</file>